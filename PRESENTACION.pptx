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286000"/>
            <a:ext cx="137160" cy="2286000"/>
          </a:xfrm>
          <a:prstGeom prst="rect">
            <a:avLst/>
          </a:prstGeom>
          <a:solidFill>
            <a:srgbClr val="FF441F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21945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 de Tiendas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1005840" y="33832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4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Dashboard + Chatbot Semántico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05840" y="4114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</a:t>
            </a:r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Next.js</a:t>
            </a:r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</a:t>
            </a:r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5760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Felipe Ledesma Velásquez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6126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Técnica · AI Interns 2026 · Rappi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problema, bien leído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5303520" cy="3108960"/>
          </a:xfrm>
          <a:prstGeom prst="rect">
            <a:avLst/>
          </a:prstGeom>
          <a:solidFill>
            <a:srgbClr val="121621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011680"/>
            <a:ext cx="73152" cy="3108960"/>
          </a:xfrm>
          <a:prstGeom prst="rect">
            <a:avLst/>
          </a:prstGeom>
          <a:solidFill>
            <a:srgbClr val="FF441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3317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de Operaciones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Llega sin preguntas concretas. Quiere ver tendencias, patrones, horas pico, caídas.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4389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44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Dashboard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309360" y="2011680"/>
            <a:ext cx="5303520" cy="3108960"/>
          </a:xfrm>
          <a:prstGeom prst="rect">
            <a:avLst/>
          </a:prstGeom>
          <a:solidFill>
            <a:srgbClr val="121621"/>
          </a:solidFill>
          <a:ln/>
        </p:spPr>
      </p:sp>
      <p:sp>
        <p:nvSpPr>
          <p:cNvPr id="9" name="Shape 7"/>
          <p:cNvSpPr/>
          <p:nvPr/>
        </p:nvSpPr>
        <p:spPr>
          <a:xfrm>
            <a:off x="6309360" y="2011680"/>
            <a:ext cx="73152" cy="3108960"/>
          </a:xfrm>
          <a:prstGeom prst="rect">
            <a:avLst/>
          </a:prstGeom>
          <a:solidFill>
            <a:srgbClr val="FF441F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23317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Líder on-call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675120" y="301752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Llega con preguntas específicas: "¿qué pasó ayer entre 3 y 5?"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75120" y="4389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44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Chatbot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dashboard resuelve lo que no sabías que preguntar. El chatbot responde lo que ya traes en la cabeza.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Rappi · Availability Dashboard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había en el zip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02920" y="2011680"/>
            <a:ext cx="2651760" cy="1828800"/>
          </a:xfrm>
          <a:prstGeom prst="rect">
            <a:avLst/>
          </a:prstGeom>
          <a:solidFill>
            <a:srgbClr val="12162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19456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4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02920" y="32004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 CSV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337560" y="2011680"/>
            <a:ext cx="2651760" cy="1828800"/>
          </a:xfrm>
          <a:prstGeom prst="rect">
            <a:avLst/>
          </a:prstGeom>
          <a:solidFill>
            <a:srgbClr val="121621"/>
          </a:solidFill>
          <a:ln/>
        </p:spPr>
      </p:sp>
      <p:sp>
        <p:nvSpPr>
          <p:cNvPr id="7" name="Text 5"/>
          <p:cNvSpPr/>
          <p:nvPr/>
        </p:nvSpPr>
        <p:spPr>
          <a:xfrm>
            <a:off x="3337560" y="219456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4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67 141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337560" y="32004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consolidados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2011680"/>
            <a:ext cx="2651760" cy="1828800"/>
          </a:xfrm>
          <a:prstGeom prst="rect">
            <a:avLst/>
          </a:prstGeom>
          <a:solidFill>
            <a:srgbClr val="121621"/>
          </a:solidFill>
          <a:ln/>
        </p:spPr>
      </p:sp>
      <p:sp>
        <p:nvSpPr>
          <p:cNvPr id="10" name="Text 8"/>
          <p:cNvSpPr/>
          <p:nvPr/>
        </p:nvSpPr>
        <p:spPr>
          <a:xfrm>
            <a:off x="6172200" y="219456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4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6172200" y="32004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frecuencia de muestreo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006840" y="2011680"/>
            <a:ext cx="2651760" cy="1828800"/>
          </a:xfrm>
          <a:prstGeom prst="rect">
            <a:avLst/>
          </a:prstGeom>
          <a:solidFill>
            <a:srgbClr val="121621"/>
          </a:solidFill>
          <a:ln/>
        </p:spPr>
      </p:sp>
      <p:sp>
        <p:nvSpPr>
          <p:cNvPr id="13" name="Text 11"/>
          <p:cNvSpPr/>
          <p:nvPr/>
        </p:nvSpPr>
        <p:spPr>
          <a:xfrm>
            <a:off x="9006840" y="219456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4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días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9006840" y="32004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 1–11 Feb 2026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4206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diario muy limpio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48640" y="470916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en madrugada, rampa a las 8 AM, pico entre 3–5 PM, descenso en la noche. Ese patrón justifica el heatmap día × hora y el chart hourly — sin esas dos vistas no estaríamos mostrando la estructura real del dataset.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Rappi · Availability Dashboard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2103120"/>
            <a:ext cx="3017520" cy="1371600"/>
          </a:xfrm>
          <a:prstGeom prst="rect">
            <a:avLst/>
          </a:prstGeom>
          <a:solidFill>
            <a:srgbClr val="121621"/>
          </a:solidFill>
          <a:ln w="25400">
            <a:solidFill>
              <a:srgbClr val="3A425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3317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UI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813048" y="251460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343400" y="2103120"/>
            <a:ext cx="3017520" cy="1371600"/>
          </a:xfrm>
          <a:prstGeom prst="rect">
            <a:avLst/>
          </a:prstGeom>
          <a:solidFill>
            <a:srgbClr val="121621"/>
          </a:solidFill>
          <a:ln w="25400">
            <a:solidFill>
              <a:srgbClr val="3A42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43400" y="23317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343400" y="29260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Next.js :3000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24928" y="251460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955280" y="2103120"/>
            <a:ext cx="3017520" cy="1371600"/>
          </a:xfrm>
          <a:prstGeom prst="rect">
            <a:avLst/>
          </a:prstGeom>
          <a:solidFill>
            <a:srgbClr val="121621"/>
          </a:solidFill>
          <a:ln w="25400">
            <a:solidFill>
              <a:srgbClr val="FF44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0" y="23317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955280" y="29260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44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 :8000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464040" y="3474720"/>
            <a:ext cx="0" cy="228600"/>
          </a:xfrm>
          <a:prstGeom prst="line">
            <a:avLst/>
          </a:prstGeom>
          <a:noFill/>
          <a:ln w="25400">
            <a:solidFill>
              <a:srgbClr val="FF44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0" y="3703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del backend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955280" y="4206240"/>
            <a:ext cx="3017520" cy="640080"/>
          </a:xfrm>
          <a:prstGeom prst="rect">
            <a:avLst/>
          </a:prstGeom>
          <a:solidFill>
            <a:srgbClr val="1C2230"/>
          </a:solidFill>
          <a:ln/>
        </p:spPr>
      </p:sp>
      <p:sp>
        <p:nvSpPr>
          <p:cNvPr id="17" name="Shape 15"/>
          <p:cNvSpPr/>
          <p:nvPr/>
        </p:nvSpPr>
        <p:spPr>
          <a:xfrm>
            <a:off x="7955280" y="4206240"/>
            <a:ext cx="73152" cy="640080"/>
          </a:xfrm>
          <a:prstGeom prst="rect">
            <a:avLst/>
          </a:prstGeom>
          <a:solidFill>
            <a:srgbClr val="FF441F"/>
          </a:solidFill>
          <a:ln/>
        </p:spPr>
      </p:sp>
      <p:sp>
        <p:nvSpPr>
          <p:cNvPr id="18" name="Text 16"/>
          <p:cNvSpPr/>
          <p:nvPr/>
        </p:nvSpPr>
        <p:spPr>
          <a:xfrm>
            <a:off x="8138160" y="42702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38160" y="45354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volumen read-only · 201 archivos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955280" y="4956048"/>
            <a:ext cx="3017520" cy="640080"/>
          </a:xfrm>
          <a:prstGeom prst="rect">
            <a:avLst/>
          </a:prstGeom>
          <a:solidFill>
            <a:srgbClr val="1C2230"/>
          </a:solidFill>
          <a:ln/>
        </p:spPr>
      </p:sp>
      <p:sp>
        <p:nvSpPr>
          <p:cNvPr id="21" name="Shape 19"/>
          <p:cNvSpPr/>
          <p:nvPr/>
        </p:nvSpPr>
        <p:spPr>
          <a:xfrm>
            <a:off x="7955280" y="4956048"/>
            <a:ext cx="73152" cy="640080"/>
          </a:xfrm>
          <a:prstGeom prst="rect">
            <a:avLst/>
          </a:prstGeom>
          <a:solidFill>
            <a:srgbClr val="FF441F"/>
          </a:solidFill>
          <a:ln/>
        </p:spPr>
      </p:sp>
      <p:sp>
        <p:nvSpPr>
          <p:cNvPr id="22" name="Text 20"/>
          <p:cNvSpPr/>
          <p:nvPr/>
        </p:nvSpPr>
        <p:spPr>
          <a:xfrm>
            <a:off x="8138160" y="50200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138160" y="52852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67 141 pts en memoria · ~2 MB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955280" y="5705856"/>
            <a:ext cx="3017520" cy="640080"/>
          </a:xfrm>
          <a:prstGeom prst="rect">
            <a:avLst/>
          </a:prstGeom>
          <a:solidFill>
            <a:srgbClr val="1C2230"/>
          </a:solidFill>
          <a:ln/>
        </p:spPr>
      </p:sp>
      <p:sp>
        <p:nvSpPr>
          <p:cNvPr id="25" name="Shape 23"/>
          <p:cNvSpPr/>
          <p:nvPr/>
        </p:nvSpPr>
        <p:spPr>
          <a:xfrm>
            <a:off x="7955280" y="5705856"/>
            <a:ext cx="73152" cy="640080"/>
          </a:xfrm>
          <a:prstGeom prst="rect">
            <a:avLst/>
          </a:prstGeom>
          <a:solidFill>
            <a:srgbClr val="FF441F"/>
          </a:solidFill>
          <a:ln/>
        </p:spPr>
      </p:sp>
      <p:sp>
        <p:nvSpPr>
          <p:cNvPr id="26" name="Text 24"/>
          <p:cNvSpPr/>
          <p:nvPr/>
        </p:nvSpPr>
        <p:spPr>
          <a:xfrm>
            <a:off x="8138160" y="57698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138160" y="6035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 use · 8 funciones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1520" y="4407408"/>
            <a:ext cx="164592" cy="164592"/>
          </a:xfrm>
          <a:prstGeom prst="ellipse">
            <a:avLst/>
          </a:prstGeom>
          <a:solidFill>
            <a:srgbClr val="FF441F"/>
          </a:solidFill>
          <a:ln/>
        </p:spPr>
      </p:sp>
      <p:sp>
        <p:nvSpPr>
          <p:cNvPr id="29" name="Text 27"/>
          <p:cNvSpPr/>
          <p:nvPr/>
        </p:nvSpPr>
        <p:spPr>
          <a:xfrm>
            <a:off x="1051560" y="4297680"/>
            <a:ext cx="6537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consolida los 201 CSVs al arrancar y los cachea en memoria.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31520" y="5157216"/>
            <a:ext cx="164592" cy="164592"/>
          </a:xfrm>
          <a:prstGeom prst="ellipse">
            <a:avLst/>
          </a:prstGeom>
          <a:solidFill>
            <a:srgbClr val="FF441F"/>
          </a:solidFill>
          <a:ln/>
        </p:spPr>
      </p:sp>
      <p:sp>
        <p:nvSpPr>
          <p:cNvPr id="31" name="Text 29"/>
          <p:cNvSpPr/>
          <p:nvPr/>
        </p:nvSpPr>
        <p:spPr>
          <a:xfrm>
            <a:off x="1051560" y="5047488"/>
            <a:ext cx="6537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Next.js standalone + rewrites → cero CORS en el navegador.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31520" y="5907024"/>
            <a:ext cx="164592" cy="164592"/>
          </a:xfrm>
          <a:prstGeom prst="ellipse">
            <a:avLst/>
          </a:prstGeom>
          <a:solidFill>
            <a:srgbClr val="FF441F"/>
          </a:solidFill>
          <a:ln/>
        </p:spPr>
      </p:sp>
      <p:sp>
        <p:nvSpPr>
          <p:cNvPr id="33" name="Text 31"/>
          <p:cNvSpPr/>
          <p:nvPr/>
        </p:nvSpPr>
        <p:spPr>
          <a:xfrm>
            <a:off x="1051560" y="5797296"/>
            <a:ext cx="6537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 orquesta todo con healthcheck y volumen read-only.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Rappi · Availability Dashboard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 &gt; RAG para series numéricas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la pregunta "¿cuál es el promedio?" no se responde con embeddings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94960" cy="3474720"/>
          </a:xfrm>
          <a:prstGeom prst="rect">
            <a:avLst/>
          </a:prstGeom>
          <a:solidFill>
            <a:srgbClr val="121621"/>
          </a:solidFill>
          <a:ln w="12700">
            <a:solidFill>
              <a:srgbClr val="3A425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3774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(descartado)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2971800"/>
            <a:ext cx="1097280" cy="0"/>
          </a:xfrm>
          <a:prstGeom prst="line">
            <a:avLst/>
          </a:prstGeom>
          <a:noFill/>
          <a:ln w="25400">
            <a:solidFill>
              <a:srgbClr val="3A425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25880" y="32461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Vectoriza los datos con embeddings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5880" y="37490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por similaridad de texto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4251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25880" y="42519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calcula promedios, no detecta caídas, no compara rangos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4754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25880" y="47548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 y lento para 67k puntos numéricos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17920" y="2103120"/>
            <a:ext cx="5394960" cy="3474720"/>
          </a:xfrm>
          <a:prstGeom prst="rect">
            <a:avLst/>
          </a:prstGeom>
          <a:solidFill>
            <a:srgbClr val="121621"/>
          </a:solidFill>
          <a:ln w="25400">
            <a:solidFill>
              <a:srgbClr val="FF441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2103120"/>
            <a:ext cx="73152" cy="3474720"/>
          </a:xfrm>
          <a:prstGeom prst="rect">
            <a:avLst/>
          </a:prstGeom>
          <a:solidFill>
            <a:srgbClr val="FF441F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23774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 (mi solución)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583680" y="2971800"/>
            <a:ext cx="1097280" cy="0"/>
          </a:xfrm>
          <a:prstGeom prst="line">
            <a:avLst/>
          </a:prstGeom>
          <a:noFill/>
          <a:ln w="25400">
            <a:solidFill>
              <a:srgbClr val="FF441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4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995160" y="32461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decide qué función analítica llamar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83680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4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95160" y="37490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ejecuta; Claude traduce el resultado en lenguaje natural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83680" y="4251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4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995160" y="42519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inventa cifras — los números vienen del backend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583680" y="4754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4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995160" y="47548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por pregunta constante, sin importar el tamaño del dataset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mañana agrego una tool nueva, el bot la usa sin reentrenar nada.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Rappi · Availability Dashboard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toolbox · 8 herramientas · loop agéntico hasta 6 rondas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97180" y="2011680"/>
            <a:ext cx="2788920" cy="1417320"/>
          </a:xfrm>
          <a:prstGeom prst="rect">
            <a:avLst/>
          </a:prstGeom>
          <a:solidFill>
            <a:srgbClr val="121621"/>
          </a:solidFill>
          <a:ln/>
        </p:spPr>
      </p:sp>
      <p:sp>
        <p:nvSpPr>
          <p:cNvPr id="4" name="Shape 2"/>
          <p:cNvSpPr/>
          <p:nvPr/>
        </p:nvSpPr>
        <p:spPr>
          <a:xfrm>
            <a:off x="297180" y="2011680"/>
            <a:ext cx="73152" cy="1417320"/>
          </a:xfrm>
          <a:prstGeom prst="rect">
            <a:avLst/>
          </a:prstGeom>
          <a:solidFill>
            <a:srgbClr val="FF441F"/>
          </a:solidFill>
          <a:ln/>
        </p:spPr>
      </p:sp>
      <p:sp>
        <p:nvSpPr>
          <p:cNvPr id="5" name="Text 3"/>
          <p:cNvSpPr/>
          <p:nvPr/>
        </p:nvSpPr>
        <p:spPr>
          <a:xfrm>
            <a:off x="525780" y="21945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4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get_stats_for_range()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25780" y="26974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descriptivas en un rango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23260" y="2011680"/>
            <a:ext cx="2788920" cy="1417320"/>
          </a:xfrm>
          <a:prstGeom prst="rect">
            <a:avLst/>
          </a:prstGeom>
          <a:solidFill>
            <a:srgbClr val="121621"/>
          </a:solidFill>
          <a:ln/>
        </p:spPr>
      </p:sp>
      <p:sp>
        <p:nvSpPr>
          <p:cNvPr id="8" name="Shape 6"/>
          <p:cNvSpPr/>
          <p:nvPr/>
        </p:nvSpPr>
        <p:spPr>
          <a:xfrm>
            <a:off x="3223260" y="2011680"/>
            <a:ext cx="73152" cy="1417320"/>
          </a:xfrm>
          <a:prstGeom prst="rect">
            <a:avLst/>
          </a:prstGeom>
          <a:solidFill>
            <a:srgbClr val="FF441F"/>
          </a:solidFill>
          <a:ln/>
        </p:spPr>
      </p:sp>
      <p:sp>
        <p:nvSpPr>
          <p:cNvPr id="9" name="Text 7"/>
          <p:cNvSpPr/>
          <p:nvPr/>
        </p:nvSpPr>
        <p:spPr>
          <a:xfrm>
            <a:off x="3451860" y="21945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4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get_hourly_profile()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51860" y="26974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por hora del día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49340" y="2011680"/>
            <a:ext cx="2788920" cy="1417320"/>
          </a:xfrm>
          <a:prstGeom prst="rect">
            <a:avLst/>
          </a:prstGeom>
          <a:solidFill>
            <a:srgbClr val="121621"/>
          </a:solidFill>
          <a:ln/>
        </p:spPr>
      </p:sp>
      <p:sp>
        <p:nvSpPr>
          <p:cNvPr id="12" name="Shape 10"/>
          <p:cNvSpPr/>
          <p:nvPr/>
        </p:nvSpPr>
        <p:spPr>
          <a:xfrm>
            <a:off x="6149340" y="2011680"/>
            <a:ext cx="73152" cy="1417320"/>
          </a:xfrm>
          <a:prstGeom prst="rect">
            <a:avLst/>
          </a:prstGeom>
          <a:solidFill>
            <a:srgbClr val="FF441F"/>
          </a:solidFill>
          <a:ln/>
        </p:spPr>
      </p:sp>
      <p:sp>
        <p:nvSpPr>
          <p:cNvPr id="13" name="Text 11"/>
          <p:cNvSpPr/>
          <p:nvPr/>
        </p:nvSpPr>
        <p:spPr>
          <a:xfrm>
            <a:off x="6377940" y="21945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4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get_daily_profile()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77940" y="26974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por día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075420" y="2011680"/>
            <a:ext cx="2788920" cy="1417320"/>
          </a:xfrm>
          <a:prstGeom prst="rect">
            <a:avLst/>
          </a:prstGeom>
          <a:solidFill>
            <a:srgbClr val="121621"/>
          </a:solidFill>
          <a:ln/>
        </p:spPr>
      </p:sp>
      <p:sp>
        <p:nvSpPr>
          <p:cNvPr id="16" name="Shape 14"/>
          <p:cNvSpPr/>
          <p:nvPr/>
        </p:nvSpPr>
        <p:spPr>
          <a:xfrm>
            <a:off x="9075420" y="2011680"/>
            <a:ext cx="73152" cy="1417320"/>
          </a:xfrm>
          <a:prstGeom prst="rect">
            <a:avLst/>
          </a:prstGeom>
          <a:solidFill>
            <a:srgbClr val="FF441F"/>
          </a:solidFill>
          <a:ln/>
        </p:spPr>
      </p:sp>
      <p:sp>
        <p:nvSpPr>
          <p:cNvPr id="17" name="Text 15"/>
          <p:cNvSpPr/>
          <p:nvPr/>
        </p:nvSpPr>
        <p:spPr>
          <a:xfrm>
            <a:off x="9304020" y="21945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4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get_weekday_profile()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304020" y="26974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por día de semana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7180" y="3611880"/>
            <a:ext cx="2788920" cy="1417320"/>
          </a:xfrm>
          <a:prstGeom prst="rect">
            <a:avLst/>
          </a:prstGeom>
          <a:solidFill>
            <a:srgbClr val="121621"/>
          </a:solidFill>
          <a:ln/>
        </p:spPr>
      </p:sp>
      <p:sp>
        <p:nvSpPr>
          <p:cNvPr id="20" name="Shape 18"/>
          <p:cNvSpPr/>
          <p:nvPr/>
        </p:nvSpPr>
        <p:spPr>
          <a:xfrm>
            <a:off x="297180" y="3611880"/>
            <a:ext cx="73152" cy="1417320"/>
          </a:xfrm>
          <a:prstGeom prst="rect">
            <a:avLst/>
          </a:prstGeom>
          <a:solidFill>
            <a:srgbClr val="FF441F"/>
          </a:solidFill>
          <a:ln/>
        </p:spPr>
      </p:sp>
      <p:sp>
        <p:nvSpPr>
          <p:cNvPr id="21" name="Text 19"/>
          <p:cNvSpPr/>
          <p:nvPr/>
        </p:nvSpPr>
        <p:spPr>
          <a:xfrm>
            <a:off x="525780" y="37947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4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find_drops()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5780" y="42976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caídas &gt; X%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23260" y="3611880"/>
            <a:ext cx="2788920" cy="1417320"/>
          </a:xfrm>
          <a:prstGeom prst="rect">
            <a:avLst/>
          </a:prstGeom>
          <a:solidFill>
            <a:srgbClr val="121621"/>
          </a:solidFill>
          <a:ln/>
        </p:spPr>
      </p:sp>
      <p:sp>
        <p:nvSpPr>
          <p:cNvPr id="24" name="Shape 22"/>
          <p:cNvSpPr/>
          <p:nvPr/>
        </p:nvSpPr>
        <p:spPr>
          <a:xfrm>
            <a:off x="3223260" y="3611880"/>
            <a:ext cx="73152" cy="1417320"/>
          </a:xfrm>
          <a:prstGeom prst="rect">
            <a:avLst/>
          </a:prstGeom>
          <a:solidFill>
            <a:srgbClr val="FF441F"/>
          </a:solidFill>
          <a:ln/>
        </p:spPr>
      </p:sp>
      <p:sp>
        <p:nvSpPr>
          <p:cNvPr id="25" name="Text 23"/>
          <p:cNvSpPr/>
          <p:nvPr/>
        </p:nvSpPr>
        <p:spPr>
          <a:xfrm>
            <a:off x="3451860" y="37947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4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get_peak_hours()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451860" y="42976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N horas con más tiendas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149340" y="3611880"/>
            <a:ext cx="2788920" cy="1417320"/>
          </a:xfrm>
          <a:prstGeom prst="rect">
            <a:avLst/>
          </a:prstGeom>
          <a:solidFill>
            <a:srgbClr val="121621"/>
          </a:solidFill>
          <a:ln/>
        </p:spPr>
      </p:sp>
      <p:sp>
        <p:nvSpPr>
          <p:cNvPr id="28" name="Shape 26"/>
          <p:cNvSpPr/>
          <p:nvPr/>
        </p:nvSpPr>
        <p:spPr>
          <a:xfrm>
            <a:off x="6149340" y="3611880"/>
            <a:ext cx="73152" cy="1417320"/>
          </a:xfrm>
          <a:prstGeom prst="rect">
            <a:avLst/>
          </a:prstGeom>
          <a:solidFill>
            <a:srgbClr val="FF441F"/>
          </a:solidFill>
          <a:ln/>
        </p:spPr>
      </p:sp>
      <p:sp>
        <p:nvSpPr>
          <p:cNvPr id="29" name="Text 27"/>
          <p:cNvSpPr/>
          <p:nvPr/>
        </p:nvSpPr>
        <p:spPr>
          <a:xfrm>
            <a:off x="6377940" y="37947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4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get_trough_hours()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377940" y="42976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N horas con menos tiendas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9075420" y="3611880"/>
            <a:ext cx="2788920" cy="1417320"/>
          </a:xfrm>
          <a:prstGeom prst="rect">
            <a:avLst/>
          </a:prstGeom>
          <a:solidFill>
            <a:srgbClr val="121621"/>
          </a:solidFill>
          <a:ln/>
        </p:spPr>
      </p:sp>
      <p:sp>
        <p:nvSpPr>
          <p:cNvPr id="32" name="Shape 30"/>
          <p:cNvSpPr/>
          <p:nvPr/>
        </p:nvSpPr>
        <p:spPr>
          <a:xfrm>
            <a:off x="9075420" y="3611880"/>
            <a:ext cx="73152" cy="1417320"/>
          </a:xfrm>
          <a:prstGeom prst="rect">
            <a:avLst/>
          </a:prstGeom>
          <a:solidFill>
            <a:srgbClr val="FF441F"/>
          </a:solidFill>
          <a:ln/>
        </p:spPr>
      </p:sp>
      <p:sp>
        <p:nvSpPr>
          <p:cNvPr id="33" name="Text 31"/>
          <p:cNvSpPr/>
          <p:nvPr/>
        </p:nvSpPr>
        <p:spPr>
          <a:xfrm>
            <a:off x="9304020" y="37947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4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compare_ranges()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304020" y="42976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 entre dos periodos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48640" y="5486400"/>
            <a:ext cx="11064240" cy="731520"/>
          </a:xfrm>
          <a:prstGeom prst="rect">
            <a:avLst/>
          </a:prstGeom>
          <a:solidFill>
            <a:srgbClr val="1C2230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55778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Encadenamiento agéntico:  </a:t>
            </a:r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"compara el mejor día vs el peor"  →  </a:t>
            </a:r>
            <a:pPr indent="0" marL="0">
              <a:buNone/>
            </a:pPr>
            <a:r>
              <a:rPr lang="en-US" sz="1400" dirty="0">
                <a:solidFill>
                  <a:srgbClr val="FF44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get_daily_profile</a:t>
            </a:r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indent="0" marL="0">
              <a:buNone/>
            </a:pPr>
            <a:r>
              <a:rPr lang="en-US" sz="1400" dirty="0">
                <a:solidFill>
                  <a:srgbClr val="FF44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compare_ranges</a:t>
            </a:r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respuesta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Rappi · Availability Dashboard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se ve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2020824"/>
            <a:ext cx="164592" cy="164592"/>
          </a:xfrm>
          <a:prstGeom prst="ellipse">
            <a:avLst/>
          </a:prstGeom>
          <a:solidFill>
            <a:srgbClr val="FF441F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" y="1920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KPI cards con timestamps exactos (max_at, min_at)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2478024"/>
            <a:ext cx="164592" cy="164592"/>
          </a:xfrm>
          <a:prstGeom prst="ellipse">
            <a:avLst/>
          </a:prstGeom>
          <a:solidFill>
            <a:srgbClr val="FF441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377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con 6 niveles de agregación (10s → 1d) + brush para zoom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2935224"/>
            <a:ext cx="164592" cy="164592"/>
          </a:xfrm>
          <a:prstGeom prst="ellipse">
            <a:avLst/>
          </a:prstGeom>
          <a:solidFill>
            <a:srgbClr val="FF441F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834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global de rango que repropaga a KPIs automáticamente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3392424"/>
            <a:ext cx="164592" cy="164592"/>
          </a:xfrm>
          <a:prstGeom prst="ellipse">
            <a:avLst/>
          </a:prstGeom>
          <a:solidFill>
            <a:srgbClr val="FF441F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291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Gráfica de promedio por hora del día (curva de demanda)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31520" y="3849624"/>
            <a:ext cx="164592" cy="164592"/>
          </a:xfrm>
          <a:prstGeom prst="ellipse">
            <a:avLst/>
          </a:prstGeom>
          <a:solidFill>
            <a:srgbClr val="FF441F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3749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día de la semana × hora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31520" y="4306824"/>
            <a:ext cx="164592" cy="164592"/>
          </a:xfrm>
          <a:prstGeom prst="ellipse">
            <a:avLst/>
          </a:prstGeom>
          <a:solidFill>
            <a:srgbClr val="FF441F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4206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 caídas con umbral configurable (detección de incidentes)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31520" y="4764024"/>
            <a:ext cx="164592" cy="164592"/>
          </a:xfrm>
          <a:prstGeom prst="ellipse">
            <a:avLst/>
          </a:prstGeom>
          <a:solidFill>
            <a:srgbClr val="FF441F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4663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flotante con UI transparente: muestra qué tools llamó Claude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 + paleta Rappi. Es un dashboard de operaciones — uso prolongado, contraste alto.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Rappi · Availability Dashboard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dejé fuera, a propósito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88620" y="2011680"/>
            <a:ext cx="3703320" cy="3474720"/>
          </a:xfrm>
          <a:prstGeom prst="rect">
            <a:avLst/>
          </a:prstGeom>
          <a:solidFill>
            <a:srgbClr val="121621"/>
          </a:solidFill>
          <a:ln/>
        </p:spPr>
      </p:sp>
      <p:sp>
        <p:nvSpPr>
          <p:cNvPr id="4" name="Shape 2"/>
          <p:cNvSpPr/>
          <p:nvPr/>
        </p:nvSpPr>
        <p:spPr>
          <a:xfrm>
            <a:off x="388620" y="2011680"/>
            <a:ext cx="73152" cy="3474720"/>
          </a:xfrm>
          <a:prstGeom prst="rect">
            <a:avLst/>
          </a:prstGeom>
          <a:solidFill>
            <a:srgbClr val="FF441F"/>
          </a:solidFill>
          <a:ln/>
        </p:spPr>
      </p:sp>
      <p:sp>
        <p:nvSpPr>
          <p:cNvPr id="5" name="Text 3"/>
          <p:cNvSpPr/>
          <p:nvPr/>
        </p:nvSpPr>
        <p:spPr>
          <a:xfrm>
            <a:off x="708660" y="237744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tests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08660" y="3108960"/>
            <a:ext cx="3246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capa de analytics es la candidata obvia. El chatbot es harder to test determinísticamente (outputs no son exactos, solo consistentes).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29100" y="2011680"/>
            <a:ext cx="3703320" cy="3474720"/>
          </a:xfrm>
          <a:prstGeom prst="rect">
            <a:avLst/>
          </a:prstGeom>
          <a:solidFill>
            <a:srgbClr val="121621"/>
          </a:solidFill>
          <a:ln/>
        </p:spPr>
      </p:sp>
      <p:sp>
        <p:nvSpPr>
          <p:cNvPr id="8" name="Shape 6"/>
          <p:cNvSpPr/>
          <p:nvPr/>
        </p:nvSpPr>
        <p:spPr>
          <a:xfrm>
            <a:off x="4229100" y="2011680"/>
            <a:ext cx="73152" cy="3474720"/>
          </a:xfrm>
          <a:prstGeom prst="rect">
            <a:avLst/>
          </a:prstGeom>
          <a:solidFill>
            <a:srgbClr val="FF441F"/>
          </a:solidFill>
          <a:ln/>
        </p:spPr>
      </p:sp>
      <p:sp>
        <p:nvSpPr>
          <p:cNvPr id="9" name="Text 7"/>
          <p:cNvSpPr/>
          <p:nvPr/>
        </p:nvSpPr>
        <p:spPr>
          <a:xfrm>
            <a:off x="4549140" y="237744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auth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49140" y="3108960"/>
            <a:ext cx="3246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prototipo local. No hay razón para añadir fricción de login en una demo que corre en tu laptop.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69580" y="2011680"/>
            <a:ext cx="3703320" cy="3474720"/>
          </a:xfrm>
          <a:prstGeom prst="rect">
            <a:avLst/>
          </a:prstGeom>
          <a:solidFill>
            <a:srgbClr val="121621"/>
          </a:solidFill>
          <a:ln/>
        </p:spPr>
      </p:sp>
      <p:sp>
        <p:nvSpPr>
          <p:cNvPr id="12" name="Shape 10"/>
          <p:cNvSpPr/>
          <p:nvPr/>
        </p:nvSpPr>
        <p:spPr>
          <a:xfrm>
            <a:off x="8069580" y="2011680"/>
            <a:ext cx="73152" cy="3474720"/>
          </a:xfrm>
          <a:prstGeom prst="rect">
            <a:avLst/>
          </a:prstGeom>
          <a:solidFill>
            <a:srgbClr val="FF441F"/>
          </a:solidFill>
          <a:ln/>
        </p:spPr>
      </p:sp>
      <p:sp>
        <p:nvSpPr>
          <p:cNvPr id="13" name="Text 11"/>
          <p:cNvSpPr/>
          <p:nvPr/>
        </p:nvSpPr>
        <p:spPr>
          <a:xfrm>
            <a:off x="8389620" y="237744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no-stream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89620" y="3108960"/>
            <a:ext cx="3246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tokens haría mejor UX, pero el valor incremental era bajo dentro del presupuesto de 1.5h de desarrollo.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es decidir qué no hacer. Todo lo que incluí lo puedo defender.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Rappi · Availability Dashboard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011680"/>
            <a:ext cx="137160" cy="2560320"/>
          </a:xfrm>
          <a:prstGeom prst="rect">
            <a:avLst/>
          </a:prstGeom>
          <a:solidFill>
            <a:srgbClr val="FF441F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9202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</a:t>
            </a:r>
            <a:endParaRPr lang="en-US" sz="8800" dirty="0"/>
          </a:p>
        </p:txBody>
      </p:sp>
      <p:sp>
        <p:nvSpPr>
          <p:cNvPr id="4" name="Text 2"/>
          <p:cNvSpPr/>
          <p:nvPr/>
        </p:nvSpPr>
        <p:spPr>
          <a:xfrm>
            <a:off x="1005840" y="3383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44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github.com/JuanFelipeLedesma/rappi-ai-dashboard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840" y="40233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comando para correrlo: 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--build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05840" y="5486400"/>
            <a:ext cx="10058400" cy="0"/>
          </a:xfrm>
          <a:prstGeom prst="line">
            <a:avLst/>
          </a:prstGeom>
          <a:noFill/>
          <a:ln w="12700">
            <a:solidFill>
              <a:srgbClr val="3A425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56235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puedes auditar a un LLM, no deberías ponerlo en producción.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eso la UI muestra las tool calls.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Rappi · AI-Powered Availability Dashboard</dc:title>
  <dc:subject>PptxGenJS Presentation</dc:subject>
  <dc:creator>Juan Felipe Ledesma Velásquez</dc:creator>
  <cp:lastModifiedBy>Juan Felipe Ledesma Velásquez</cp:lastModifiedBy>
  <cp:revision>1</cp:revision>
  <dcterms:created xsi:type="dcterms:W3CDTF">2026-04-21T23:28:13Z</dcterms:created>
  <dcterms:modified xsi:type="dcterms:W3CDTF">2026-04-21T23:28:13Z</dcterms:modified>
</cp:coreProperties>
</file>